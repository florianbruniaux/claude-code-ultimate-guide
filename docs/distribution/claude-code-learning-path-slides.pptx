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f3f26e218e42eb" /><Relationship Type="http://schemas.openxmlformats.org/officeDocument/2006/relationships/extended-properties" Target="/docProps/app.xml" Id="R4d2ff7d6b4d14c43" /><Relationship Type="http://schemas.openxmlformats.org/officeDocument/2006/relationships/officeDocument" Target="/ppt/presentation.xml" Id="R1624b006be3f47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51d4241824939"/>
  </p:sldMasterIdLst>
  <p:notesMasterIdLst>
    <p:notesMasterId xmlns:r="http://schemas.openxmlformats.org/officeDocument/2006/relationships" r:id="Rf9b023cd63684d40"/>
  </p:notesMasterIdLst>
  <p:sldIdLst>
    <p:sldId xmlns:r="http://schemas.openxmlformats.org/officeDocument/2006/relationships" id="256" r:id="R788675ce2a0c477f"/>
    <p:sldId xmlns:r="http://schemas.openxmlformats.org/officeDocument/2006/relationships" id="257" r:id="Rf1fb859316114dbf"/>
    <p:sldId xmlns:r="http://schemas.openxmlformats.org/officeDocument/2006/relationships" id="258" r:id="R20c01fa7dbe5458a"/>
    <p:sldId xmlns:r="http://schemas.openxmlformats.org/officeDocument/2006/relationships" id="259" r:id="R597ed91f482b4359"/>
    <p:sldId xmlns:r="http://schemas.openxmlformats.org/officeDocument/2006/relationships" id="260" r:id="Rbf5b79d8f5ff4317"/>
    <p:sldId xmlns:r="http://schemas.openxmlformats.org/officeDocument/2006/relationships" id="261" r:id="R4a735b46c2c44035"/>
    <p:sldId xmlns:r="http://schemas.openxmlformats.org/officeDocument/2006/relationships" id="262" r:id="Rb3953fa61682424a"/>
    <p:sldId xmlns:r="http://schemas.openxmlformats.org/officeDocument/2006/relationships" id="263" r:id="R612f1778f2154785"/>
    <p:sldId xmlns:r="http://schemas.openxmlformats.org/officeDocument/2006/relationships" id="264" r:id="R363dae871c1f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dd0f69dcc34035" /><Relationship Type="http://schemas.openxmlformats.org/officeDocument/2006/relationships/slideMaster" Target="/ppt/slideMasters/slideMaster1.xml" Id="Re6d51d4241824939" /><Relationship Type="http://schemas.openxmlformats.org/officeDocument/2006/relationships/notesMaster" Target="/ppt/notesMasters/notesMaster1.xml" Id="Rf9b023cd63684d40" /><Relationship Type="http://schemas.openxmlformats.org/officeDocument/2006/relationships/presProps" Target="/ppt/presProps.xml" Id="R04b7e3fbacf94386" /><Relationship Type="http://schemas.openxmlformats.org/officeDocument/2006/relationships/tableStyles" Target="/ppt/tableStyles.xml" Id="R8d75eefedd624257" /><Relationship Type="http://schemas.openxmlformats.org/officeDocument/2006/relationships/slide" Target="/ppt/slides/slide1.xml" Id="R788675ce2a0c477f" /><Relationship Type="http://schemas.openxmlformats.org/officeDocument/2006/relationships/slide" Target="/ppt/slides/slide2.xml" Id="Rf1fb859316114dbf" /><Relationship Type="http://schemas.openxmlformats.org/officeDocument/2006/relationships/slide" Target="/ppt/slides/slide3.xml" Id="R20c01fa7dbe5458a" /><Relationship Type="http://schemas.openxmlformats.org/officeDocument/2006/relationships/slide" Target="/ppt/slides/slide4.xml" Id="R597ed91f482b4359" /><Relationship Type="http://schemas.openxmlformats.org/officeDocument/2006/relationships/slide" Target="/ppt/slides/slide5.xml" Id="Rbf5b79d8f5ff4317" /><Relationship Type="http://schemas.openxmlformats.org/officeDocument/2006/relationships/slide" Target="/ppt/slides/slide6.xml" Id="R4a735b46c2c44035" /><Relationship Type="http://schemas.openxmlformats.org/officeDocument/2006/relationships/slide" Target="/ppt/slides/slide7.xml" Id="Rb3953fa61682424a" /><Relationship Type="http://schemas.openxmlformats.org/officeDocument/2006/relationships/slide" Target="/ppt/slides/slide8.xml" Id="R612f1778f2154785" /><Relationship Type="http://schemas.openxmlformats.org/officeDocument/2006/relationships/slide" Target="/ppt/slides/slide9.xml" Id="R363dae871c1f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678bc30b724d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0fb9423c844b6" /><Relationship Type="http://schemas.openxmlformats.org/officeDocument/2006/relationships/notesMaster" Target="/ppt/notesMasters/notesMaster1.xml" Id="R75bbb9ea66fc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5f8c05223c4f34" /><Relationship Type="http://schemas.openxmlformats.org/officeDocument/2006/relationships/notesMaster" Target="/ppt/notesMasters/notesMaster1.xml" Id="Rdfd28de064a84a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a4892ccb54cc4" /><Relationship Type="http://schemas.openxmlformats.org/officeDocument/2006/relationships/notesMaster" Target="/ppt/notesMasters/notesMaster1.xml" Id="R569d4b76ff2c4a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9ea6cd75304386" /><Relationship Type="http://schemas.openxmlformats.org/officeDocument/2006/relationships/notesMaster" Target="/ppt/notesMasters/notesMaster1.xml" Id="Rf93a15901336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d45bfb9a7c4931" /><Relationship Type="http://schemas.openxmlformats.org/officeDocument/2006/relationships/notesMaster" Target="/ppt/notesMasters/notesMaster1.xml" Id="R433c78986fae45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6684ffbdbb443e" /><Relationship Type="http://schemas.openxmlformats.org/officeDocument/2006/relationships/notesMaster" Target="/ppt/notesMasters/notesMaster1.xml" Id="Re4f2dae3f1f54e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cc04569a549bf" /><Relationship Type="http://schemas.openxmlformats.org/officeDocument/2006/relationships/notesMaster" Target="/ppt/notesMasters/notesMaster1.xml" Id="R1639a4f53b4e4d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b11347d0b402f" /><Relationship Type="http://schemas.openxmlformats.org/officeDocument/2006/relationships/notesMaster" Target="/ppt/notesMasters/notesMaster1.xml" Id="R793fcaf57ce343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7332ca82ff4530" /><Relationship Type="http://schemas.openxmlformats.org/officeDocument/2006/relationships/notesMaster" Target="/ppt/notesMasters/notesMaster1.xml" Id="R05ef7b2ff8de4d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guide/learning-path/README.md</a:t>
            </a:r>
          </a:p>
          <a:p xmlns:a="http://schemas.openxmlformats.org/drawingml/2006/main">
            <a:r>
              <a:t>Repository: examples/skills/learning-path/SKILL.md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docs/resource-evaluations/mltut-learning-resources-comparative-audit.md</a:t>
            </a:r>
          </a:p>
          <a:p xmlns:a="http://schemas.openxmlformats.org/drawingml/2006/main">
            <a:r>
              <a:t>https://www.mltut.com/best-resources-to-learn-claude-code/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guide/learning-path/README.md</a:t>
            </a:r>
          </a:p>
          <a:p xmlns:a="http://schemas.openxmlformats.org/drawingml/2006/main">
            <a:r>
              <a:t>Repository: examples/skills/learning-path/assets/path.yaml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examples/skills/learning-path/assets/path.yaml</a:t>
            </a:r>
          </a:p>
          <a:p xmlns:a="http://schemas.openxmlformats.org/drawingml/2006/main">
            <a:r>
              <a:t>https://pubmed.ncbi.nlm.nih.gov/16719566/</a:t>
            </a:r>
          </a:p>
          <a:p xmlns:a="http://schemas.openxmlformats.org/drawingml/2006/main">
            <a:r>
              <a:t>https://pubmed.ncbi.nlm.nih.gov/16507066/</a:t>
            </a:r>
          </a:p>
          <a:p xmlns:a="http://schemas.openxmlformats.org/drawingml/2006/main">
            <a:r>
              <a:t>https://pubmed.ncbi.nlm.nih.gov/18276894/</a:t>
            </a:r>
          </a:p>
          <a:p xmlns:a="http://schemas.openxmlformats.org/drawingml/2006/main">
            <a:r>
              <a:t>https://arxiv.org/abs/2410.03017</a:t>
            </a:r>
          </a:p>
          <a:p xmlns:a="http://schemas.openxmlformats.org/drawingml/2006/main">
            <a:r>
              <a:t>Boundary: these studies support distributed practice and retrieval. They do not validate the exact 1, 3, 7, 14, 30, 60, and 90 day schedule, which is project policy.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guide/workflows/best-of-n.md</a:t>
            </a:r>
          </a:p>
          <a:p xmlns:a="http://schemas.openxmlformats.org/drawingml/2006/main">
            <a:r>
              <a:t>https://arxiv.org/abs/2203.11171</a:t>
            </a:r>
          </a:p>
          <a:p xmlns:a="http://schemas.openxmlformats.org/drawingml/2006/main">
            <a:r>
              <a:t>https://arxiv.org/abs/2412.15287</a:t>
            </a:r>
          </a:p>
          <a:p xmlns:a="http://schemas.openxmlformats.org/drawingml/2006/main">
            <a:r>
              <a:t>https://youtube.com/watch?v=fPESauMaJYA&amp;t=3076s</a:t>
            </a:r>
          </a:p>
          <a:p xmlns:a="http://schemas.openxmlformats.org/drawingml/2006/main">
            <a:r>
              <a:t>https://youtube.com/watch?v=D_cw-k0F1DM&amp;t=370s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examples/claude-md/TESTING.md</a:t>
            </a:r>
          </a:p>
          <a:p xmlns:a="http://schemas.openxmlformats.org/drawingml/2006/main">
            <a:r>
              <a:t>Repository: docs/resource-evaluations/best-of-n-verification-evidence.md</a:t>
            </a:r>
          </a:p>
          <a:p xmlns:a="http://schemas.openxmlformats.org/drawingml/2006/main">
            <a:r>
              <a:t>https://arxiv.org/abs/2305.20050</a:t>
            </a:r>
          </a:p>
          <a:p xmlns:a="http://schemas.openxmlformats.org/drawingml/2006/main">
            <a:r>
              <a:t>https://arxiv.org/abs/2407.04622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guide/core/computer-use.md</a:t>
            </a:r>
          </a:p>
          <a:p xmlns:a="http://schemas.openxmlformats.org/drawingml/2006/main">
            <a:r>
              <a:t>Repository: guide/ecosystem/plugin-distribution.md</a:t>
            </a:r>
          </a:p>
          <a:p xmlns:a="http://schemas.openxmlformats.org/drawingml/2006/main">
            <a:r>
              <a:t>Repository: guide/ops/api-gateway.md</a:t>
            </a:r>
          </a:p>
          <a:p xmlns:a="http://schemas.openxmlformats.org/drawingml/2006/main">
            <a:r>
              <a:t>https://code.claude.com/docs/en/computer-use</a:t>
            </a:r>
          </a:p>
          <a:p xmlns:a="http://schemas.openxmlformats.org/drawingml/2006/main">
            <a:r>
              <a:t>https://code.claude.com/docs/en/plugins</a:t>
            </a:r>
          </a:p>
          <a:p xmlns:a="http://schemas.openxmlformats.org/drawingml/2006/main">
            <a:r>
              <a:t>https://code.claude.com/docs/en/claude-apps-gateway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docs/workflows/guide-distribution.md</a:t>
            </a:r>
          </a:p>
          <a:p xmlns:a="http://schemas.openxmlformats.org/drawingml/2006/main">
            <a:r>
              <a:t>Repository: machine-readable/distribution-channels.yaml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examples/skills/learning-path/SKILL.md</a:t>
            </a:r>
          </a:p>
          <a:p xmlns:a="http://schemas.openxmlformats.org/drawingml/2006/main">
            <a:r>
              <a:t>https://cc.bruniaux.com/</a:t>
            </a:r>
          </a:p>
          <a:p xmlns:a="http://schemas.openxmlformats.org/drawingml/2006/main">
            <a:r>
              <a:t>https://github.com/FlorianBruniaux/claude-code-ultimate-guide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d6a6b1fa84c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49072dc214a71" /><Relationship Type="http://schemas.openxmlformats.org/officeDocument/2006/relationships/slideLayout" Target="/ppt/slideLayouts/slideLayout1.xml" Id="R17a7167fd90a48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7167fd90a48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58fb3d02547e5" /><Relationship Type="http://schemas.openxmlformats.org/officeDocument/2006/relationships/notesSlide" Target="/ppt/notesSlides/notesSlide1.xml" Id="Rca6d67cfb3bb4e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e9e1e299e4344" /><Relationship Type="http://schemas.openxmlformats.org/officeDocument/2006/relationships/notesSlide" Target="/ppt/notesSlides/notesSlide2.xml" Id="Rbf541e083e6248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3919a5514c28" /><Relationship Type="http://schemas.openxmlformats.org/officeDocument/2006/relationships/notesSlide" Target="/ppt/notesSlides/notesSlide3.xml" Id="R822de3566abb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18a3043e4460f" /><Relationship Type="http://schemas.openxmlformats.org/officeDocument/2006/relationships/notesSlide" Target="/ppt/notesSlides/notesSlide4.xml" Id="R253056f81e68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b791d488e45fb" /><Relationship Type="http://schemas.openxmlformats.org/officeDocument/2006/relationships/notesSlide" Target="/ppt/notesSlides/notesSlide5.xml" Id="Rb9b326dfe7174b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50bb1a6974271" /><Relationship Type="http://schemas.openxmlformats.org/officeDocument/2006/relationships/notesSlide" Target="/ppt/notesSlides/notesSlide6.xml" Id="Rd251d922ecc641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dafcc5aea476e" /><Relationship Type="http://schemas.openxmlformats.org/officeDocument/2006/relationships/notesSlide" Target="/ppt/notesSlides/notesSlide7.xml" Id="Rdce8280409674e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4193d4b76409f" /><Relationship Type="http://schemas.openxmlformats.org/officeDocument/2006/relationships/notesSlide" Target="/ppt/notesSlides/notesSlide8.xml" Id="R99afed558a604e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4f6e53ee341bc" /><Relationship Type="http://schemas.openxmlformats.org/officeDocument/2006/relationships/notesSlide" Target="/ppt/notesSlides/notesSlide9.xml" Id="Rb3ba5a74beef45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EFF3AE6-93D6-4872-89EB-E272756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CLAUDE CODE ULTIMATE GUIDE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BECF191-AA38-4997-B485-675F922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 by doing,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 what works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B634E5D-E237-456A-9A1C-9A6E5716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A seven-module path with executable practice, review intervals, and evidence you can inspect.</a:t>
            </a:r>
          </a:p>
        </p:txBody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346689A9-DFF6-402B-8ECC-5E4C2669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3696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F866CE1-EBD1-4E45-B515-60827E35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deep guide still needs a clear first route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119B178F-1F19-4F6E-8E73-E519FFB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CC7913B3-ABB0-499A-A029-FE8E5AE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friction</a:t>
            </a:r>
          </a:p>
        </p:txBody>
      </p:sp>
      <p:sp>
        <p:nvSpPr>
          <p:cNvPr id="4" name="left-body">
            <a:extLst xmlns:a="http://schemas.openxmlformats.org/drawingml/2006/main">
              <a:ext uri="{FF2B5EF4-FFF2-40B4-BE49-F238E27FC236}">
                <a16:creationId xmlns:a16="http://schemas.microsoft.com/office/drawing/2014/main" id="{65754E2B-7001-42EB-95CC-4251BF0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Comprehensive references answer many questions, but new readers still have to choose where to begin, what to practise, and how to know when they are ready to continue.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092B29CE-DAA4-478B-8DA7-67C9CD8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response</a:t>
            </a:r>
          </a:p>
        </p:txBody>
      </p:sp>
      <p:sp>
        <p:nvSpPr>
          <p:cNvPr id="6" name="right-body">
            <a:extLst xmlns:a="http://schemas.openxmlformats.org/drawingml/2006/main">
              <a:ext uri="{FF2B5EF4-FFF2-40B4-BE49-F238E27FC236}">
                <a16:creationId xmlns:a16="http://schemas.microsoft.com/office/drawing/2014/main" id="{B040BC53-64FA-4A41-8A8F-45B327F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reference depth. Add a bounded progression, one real exercise per module, durable local evidence, and explicit links back to the full guide.</a:t>
            </a:r>
          </a:p>
        </p:txBody>
      </p:sp>
      <p:cxnSp>
        <p:nvCxnSpPr>
          <p:cNvPr id="14" name="split-rule"/>
          <p:cNvCxnSpPr/>
          <p:nvPr/>
        </p:nvCxnSpPr>
        <p:spPr>
          <a:xfrm xmlns:a="http://schemas.openxmlformats.org/drawingml/2006/main">
            <a:off x="5905500" y="17907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37668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3">
            <a:extLst xmlns:a="http://schemas.openxmlformats.org/drawingml/2006/main">
              <a:ext uri="{FF2B5EF4-FFF2-40B4-BE49-F238E27FC236}">
                <a16:creationId xmlns:a16="http://schemas.microsoft.com/office/drawing/2014/main" id="{F0A31555-695C-4AC9-8893-45C1B4AA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Seven modules take the learner from setup to orchestration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0F7C74E4-E0D9-4D81-8AD8-353A960D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8" name="module-spine"/>
          <p:cNvCxnSpPr/>
          <p:nvPr/>
        </p:nvCxnSpPr>
        <p:spPr>
          <a:xfrm xmlns:a="http://schemas.openxmlformats.org/drawingml/2006/main">
            <a:off x="762000" y="328612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module-node-01">
            <a:extLst xmlns:a="http://schemas.openxmlformats.org/drawingml/2006/main">
              <a:ext uri="{FF2B5EF4-FFF2-40B4-BE49-F238E27FC236}">
                <a16:creationId xmlns:a16="http://schemas.microsoft.com/office/drawing/2014/main" id="{8635CBC6-9C4E-4BCC-ACC7-2EB8922F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dule-id-01">
            <a:extLst xmlns:a="http://schemas.openxmlformats.org/drawingml/2006/main">
              <a:ext uri="{FF2B5EF4-FFF2-40B4-BE49-F238E27FC236}">
                <a16:creationId xmlns:a16="http://schemas.microsoft.com/office/drawing/2014/main" id="{684CBAB2-3D8F-4782-B38B-772AA9F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module-label-01">
            <a:extLst xmlns:a="http://schemas.openxmlformats.org/drawingml/2006/main">
              <a:ext uri="{FF2B5EF4-FFF2-40B4-BE49-F238E27FC236}">
                <a16:creationId xmlns:a16="http://schemas.microsoft.com/office/drawing/2014/main" id="{101AE6A3-FBDE-4DCB-9ABD-C0B3CDEE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Install and orient</a:t>
            </a:r>
          </a:p>
        </p:txBody>
      </p:sp>
      <p:sp>
        <p:nvSpPr>
          <p:cNvPr id="7" name="module-node-02">
            <a:extLst xmlns:a="http://schemas.openxmlformats.org/drawingml/2006/main">
              <a:ext uri="{FF2B5EF4-FFF2-40B4-BE49-F238E27FC236}">
                <a16:creationId xmlns:a16="http://schemas.microsoft.com/office/drawing/2014/main" id="{B1B1F5EC-7D06-4586-A5F4-0E4BDB2D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-id-02">
            <a:extLst xmlns:a="http://schemas.openxmlformats.org/drawingml/2006/main">
              <a:ext uri="{FF2B5EF4-FFF2-40B4-BE49-F238E27FC236}">
                <a16:creationId xmlns:a16="http://schemas.microsoft.com/office/drawing/2014/main" id="{3110A132-02E2-46FF-9037-64667544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module-label-02">
            <a:extLst xmlns:a="http://schemas.openxmlformats.org/drawingml/2006/main">
              <a:ext uri="{FF2B5EF4-FFF2-40B4-BE49-F238E27FC236}">
                <a16:creationId xmlns:a16="http://schemas.microsoft.com/office/drawing/2014/main" id="{1DAA62B3-C29D-403D-9159-F16E7A8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core loop</a:t>
            </a:r>
          </a:p>
        </p:txBody>
      </p:sp>
      <p:sp>
        <p:nvSpPr>
          <p:cNvPr id="10" name="module-node-03">
            <a:extLst xmlns:a="http://schemas.openxmlformats.org/drawingml/2006/main">
              <a:ext uri="{FF2B5EF4-FFF2-40B4-BE49-F238E27FC236}">
                <a16:creationId xmlns:a16="http://schemas.microsoft.com/office/drawing/2014/main" id="{76D9AF8D-BE75-4F93-986D-578BFF33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dule-id-03">
            <a:extLst xmlns:a="http://schemas.openxmlformats.org/drawingml/2006/main">
              <a:ext uri="{FF2B5EF4-FFF2-40B4-BE49-F238E27FC236}">
                <a16:creationId xmlns:a16="http://schemas.microsoft.com/office/drawing/2014/main" id="{3DE4F50A-8752-49D1-98F7-1380D97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module-label-03">
            <a:extLst xmlns:a="http://schemas.openxmlformats.org/drawingml/2006/main">
              <a:ext uri="{FF2B5EF4-FFF2-40B4-BE49-F238E27FC236}">
                <a16:creationId xmlns:a16="http://schemas.microsoft.com/office/drawing/2014/main" id="{5DB927C7-5E1E-4304-BFDC-C9B2A278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memory</a:t>
            </a:r>
          </a:p>
        </p:txBody>
      </p:sp>
      <p:sp>
        <p:nvSpPr>
          <p:cNvPr id="13" name="module-node-04">
            <a:extLst xmlns:a="http://schemas.openxmlformats.org/drawingml/2006/main">
              <a:ext uri="{FF2B5EF4-FFF2-40B4-BE49-F238E27FC236}">
                <a16:creationId xmlns:a16="http://schemas.microsoft.com/office/drawing/2014/main" id="{2F985052-EC33-4852-BAC3-3964537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ule-id-04">
            <a:extLst xmlns:a="http://schemas.openxmlformats.org/drawingml/2006/main">
              <a:ext uri="{FF2B5EF4-FFF2-40B4-BE49-F238E27FC236}">
                <a16:creationId xmlns:a16="http://schemas.microsoft.com/office/drawing/2014/main" id="{EB89ED8B-4605-4552-9EC7-A5288E4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module-label-04">
            <a:extLst xmlns:a="http://schemas.openxmlformats.org/drawingml/2006/main">
              <a:ext uri="{FF2B5EF4-FFF2-40B4-BE49-F238E27FC236}">
                <a16:creationId xmlns:a16="http://schemas.microsoft.com/office/drawing/2014/main" id="{DDB9593D-6201-49F5-8212-3DF33D2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Delegate to agents</a:t>
            </a:r>
          </a:p>
        </p:txBody>
      </p:sp>
      <p:sp>
        <p:nvSpPr>
          <p:cNvPr id="16" name="module-node-05">
            <a:extLst xmlns:a="http://schemas.openxmlformats.org/drawingml/2006/main">
              <a:ext uri="{FF2B5EF4-FFF2-40B4-BE49-F238E27FC236}">
                <a16:creationId xmlns:a16="http://schemas.microsoft.com/office/drawing/2014/main" id="{48126587-2BA2-4680-A428-58726EF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ule-id-05">
            <a:extLst xmlns:a="http://schemas.openxmlformats.org/drawingml/2006/main">
              <a:ext uri="{FF2B5EF4-FFF2-40B4-BE49-F238E27FC236}">
                <a16:creationId xmlns:a16="http://schemas.microsoft.com/office/drawing/2014/main" id="{636CE19B-50D6-4012-9E71-E220C07A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module-label-05">
            <a:extLst xmlns:a="http://schemas.openxmlformats.org/drawingml/2006/main">
              <a:ext uri="{FF2B5EF4-FFF2-40B4-BE49-F238E27FC236}">
                <a16:creationId xmlns:a16="http://schemas.microsoft.com/office/drawing/2014/main" id="{A4A4C496-D946-4F16-A2DB-CA11FFF0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Package skills</a:t>
            </a:r>
          </a:p>
        </p:txBody>
      </p:sp>
      <p:sp>
        <p:nvSpPr>
          <p:cNvPr id="19" name="module-node-06">
            <a:extLst xmlns:a="http://schemas.openxmlformats.org/drawingml/2006/main">
              <a:ext uri="{FF2B5EF4-FFF2-40B4-BE49-F238E27FC236}">
                <a16:creationId xmlns:a16="http://schemas.microsoft.com/office/drawing/2014/main" id="{27D1BD07-232F-4BAD-B2EA-36517946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odule-id-06">
            <a:extLst xmlns:a="http://schemas.openxmlformats.org/drawingml/2006/main">
              <a:ext uri="{FF2B5EF4-FFF2-40B4-BE49-F238E27FC236}">
                <a16:creationId xmlns:a16="http://schemas.microsoft.com/office/drawing/2014/main" id="{C91D249A-1D41-4B9A-A1E1-699FA295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1" name="module-label-06">
            <a:extLst xmlns:a="http://schemas.openxmlformats.org/drawingml/2006/main">
              <a:ext uri="{FF2B5EF4-FFF2-40B4-BE49-F238E27FC236}">
                <a16:creationId xmlns:a16="http://schemas.microsoft.com/office/drawing/2014/main" id="{5B9DC554-FFBA-4ED6-B443-58AEB7D4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event hooks</a:t>
            </a:r>
          </a:p>
        </p:txBody>
      </p:sp>
      <p:sp>
        <p:nvSpPr>
          <p:cNvPr id="22" name="module-node-07">
            <a:extLst xmlns:a="http://schemas.openxmlformats.org/drawingml/2006/main">
              <a:ext uri="{FF2B5EF4-FFF2-40B4-BE49-F238E27FC236}">
                <a16:creationId xmlns:a16="http://schemas.microsoft.com/office/drawing/2014/main" id="{8CB89384-9F3F-4F61-BDAD-827DF1D3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99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odule-id-07">
            <a:extLst xmlns:a="http://schemas.openxmlformats.org/drawingml/2006/main">
              <a:ext uri="{FF2B5EF4-FFF2-40B4-BE49-F238E27FC236}">
                <a16:creationId xmlns:a16="http://schemas.microsoft.com/office/drawing/2014/main" id="{7BDF87BE-C86A-49B0-A102-017F81DF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4" name="module-label-07">
            <a:extLst xmlns:a="http://schemas.openxmlformats.org/drawingml/2006/main">
              <a:ext uri="{FF2B5EF4-FFF2-40B4-BE49-F238E27FC236}">
                <a16:creationId xmlns:a16="http://schemas.microsoft.com/office/drawing/2014/main" id="{F0B6DD10-A54C-4FD5-BC27-B67B21AC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57625"/>
            <a:ext cx="1257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advanced workflows</a:t>
            </a:r>
          </a:p>
        </p:txBody>
      </p:sp>
      <p:sp>
        <p:nvSpPr>
          <p:cNvPr id="25" name="track-note">
            <a:extLst xmlns:a="http://schemas.openxmlformats.org/drawingml/2006/main">
              <a:ext uri="{FF2B5EF4-FFF2-40B4-BE49-F238E27FC236}">
                <a16:creationId xmlns:a16="http://schemas.microsoft.com/office/drawing/2014/main" id="{C7756E30-9DEB-4DCA-9F33-D480B15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Beginner stops after 03. Practitioner reaches 05. Production and Maintainer complete all seven modules.</a:t>
            </a:r>
          </a:p>
        </p:txBody>
      </p:sp>
    </p:spTree>
    <p:extLst>
      <p:ext uri="{BB962C8B-B14F-4D97-AF65-F5344CB8AC3E}">
        <p14:creationId xmlns:p14="http://schemas.microsoft.com/office/powerpoint/2010/main" val="806656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4">
            <a:extLst xmlns:a="http://schemas.openxmlformats.org/drawingml/2006/main">
              <a:ext uri="{FF2B5EF4-FFF2-40B4-BE49-F238E27FC236}">
                <a16:creationId xmlns:a16="http://schemas.microsoft.com/office/drawing/2014/main" id="{4F8F0EAD-7512-458A-9211-A153E96F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module ends with evidence, then returns for review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A0593891-07B5-4553-979A-21D05441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16" name="learning-loop-line"/>
          <p:cNvCxnSpPr/>
          <p:nvPr/>
        </p:nvCxnSpPr>
        <p:spPr>
          <a:xfrm xmlns:a="http://schemas.openxmlformats.org/drawingml/2006/main">
            <a:off x="857250" y="321945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stage-dot-0">
            <a:extLst xmlns:a="http://schemas.openxmlformats.org/drawingml/2006/main">
              <a:ext uri="{FF2B5EF4-FFF2-40B4-BE49-F238E27FC236}">
                <a16:creationId xmlns:a16="http://schemas.microsoft.com/office/drawing/2014/main" id="{5CB5EE4B-2BDE-47C3-9C63-B913000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06D3DB09-9F8E-4899-B1F3-58C00A9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READ</a:t>
            </a:r>
          </a:p>
        </p:txBody>
      </p:sp>
      <p:sp>
        <p:nvSpPr>
          <p:cNvPr id="6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E3536155-7B63-4251-93AB-D06A4CF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linked guide page to frame the task.</a:t>
            </a:r>
          </a:p>
        </p:txBody>
      </p:sp>
      <p:sp>
        <p:nvSpPr>
          <p:cNvPr id="7" name="stage-dot-1">
            <a:extLst xmlns:a="http://schemas.openxmlformats.org/drawingml/2006/main">
              <a:ext uri="{FF2B5EF4-FFF2-40B4-BE49-F238E27FC236}">
                <a16:creationId xmlns:a16="http://schemas.microsoft.com/office/drawing/2014/main" id="{32861D3C-20B0-42DA-A5AE-D7B734D3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337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D8388A2A-EEB0-42FC-AD54-3B2F1ABD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24B4A7CD-8DE0-4C3A-8602-BA546954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Complete the exercise in a real project.</a:t>
            </a:r>
          </a:p>
        </p:txBody>
      </p:sp>
      <p:sp>
        <p:nvSpPr>
          <p:cNvPr id="10" name="stage-dot-2">
            <a:extLst xmlns:a="http://schemas.openxmlformats.org/drawingml/2006/main">
              <a:ext uri="{FF2B5EF4-FFF2-40B4-BE49-F238E27FC236}">
                <a16:creationId xmlns:a16="http://schemas.microsoft.com/office/drawing/2014/main" id="{465C036D-B3FB-4073-84C6-194F044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337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DAF4A31E-55B2-4498-8BD4-B790A95A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</p:txBody>
      </p:sp>
      <p:sp>
        <p:nvSpPr>
          <p:cNvPr id="12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2D85FAF6-2761-4048-B620-7EDC3E5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Save an inspectable note, then revisit it on schedule.</a:t>
            </a:r>
          </a:p>
        </p:txBody>
      </p:sp>
      <p:sp>
        <p:nvSpPr>
          <p:cNvPr id="13" name="review-intervals">
            <a:extLst xmlns:a="http://schemas.openxmlformats.org/drawingml/2006/main">
              <a:ext uri="{FF2B5EF4-FFF2-40B4-BE49-F238E27FC236}">
                <a16:creationId xmlns:a16="http://schemas.microsoft.com/office/drawing/2014/main" id="{04D98BF7-2AF3-42B2-83D4-B8CAB15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Reviews: 1, 3, 7, 14, 30, 60, and 90 days</a:t>
            </a:r>
          </a:p>
        </p:txBody>
      </p:sp>
    </p:spTree>
    <p:extLst>
      <p:ext uri="{BB962C8B-B14F-4D97-AF65-F5344CB8AC3E}">
        <p14:creationId xmlns:p14="http://schemas.microsoft.com/office/powerpoint/2010/main" val="51198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60833C0E-F1D2-4C15-B7D3-835D35A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Best-of-N requires a frozen rubric and an external verifier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E99DC3EF-6D6B-490E-92F4-AE9FEC2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5" name="bon-link-0"/>
          <p:cNvCxnSpPr/>
          <p:nvPr/>
        </p:nvCxnSpPr>
        <p:spPr>
          <a:xfrm xmlns:a="http://schemas.openxmlformats.org/drawingml/2006/main">
            <a:off x="2400300" y="31051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4" name="bon-panel-1">
            <a:extLst xmlns:a="http://schemas.openxmlformats.org/drawingml/2006/main">
              <a:ext uri="{FF2B5EF4-FFF2-40B4-BE49-F238E27FC236}">
                <a16:creationId xmlns:a16="http://schemas.microsoft.com/office/drawing/2014/main" id="{184F8E8F-6A5A-4B43-A740-E267DB9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457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n-id-1">
            <a:extLst xmlns:a="http://schemas.openxmlformats.org/drawingml/2006/main">
              <a:ext uri="{FF2B5EF4-FFF2-40B4-BE49-F238E27FC236}">
                <a16:creationId xmlns:a16="http://schemas.microsoft.com/office/drawing/2014/main" id="{7A315E64-4CEB-4F57-8701-6CF5A40E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bon-label-1">
            <a:extLst xmlns:a="http://schemas.openxmlformats.org/drawingml/2006/main">
              <a:ext uri="{FF2B5EF4-FFF2-40B4-BE49-F238E27FC236}">
                <a16:creationId xmlns:a16="http://schemas.microsoft.com/office/drawing/2014/main" id="{0019760E-0258-4802-A480-C8F75B59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</a:t>
            </a:r>
          </a:p>
        </p:txBody>
      </p:sp>
      <p:sp>
        <p:nvSpPr>
          <p:cNvPr id="7" name="bon-body-1">
            <a:extLst xmlns:a="http://schemas.openxmlformats.org/drawingml/2006/main">
              <a:ext uri="{FF2B5EF4-FFF2-40B4-BE49-F238E27FC236}">
                <a16:creationId xmlns:a16="http://schemas.microsoft.com/office/drawing/2014/main" id="{F966ABEF-5CB8-4773-A9D4-575B91BF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047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Scope, rubric, N, budget</a:t>
            </a:r>
          </a:p>
        </p:txBody>
      </p:sp>
      <p:cxnSp>
        <p:nvCxnSpPr>
          <p:cNvPr id="30" name="bon-link-1"/>
          <p:cNvCxnSpPr/>
          <p:nvPr/>
        </p:nvCxnSpPr>
        <p:spPr>
          <a:xfrm xmlns:a="http://schemas.openxmlformats.org/drawingml/2006/main">
            <a:off x="5276850" y="31051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9" name="bon-panel-2">
            <a:extLst xmlns:a="http://schemas.openxmlformats.org/drawingml/2006/main">
              <a:ext uri="{FF2B5EF4-FFF2-40B4-BE49-F238E27FC236}">
                <a16:creationId xmlns:a16="http://schemas.microsoft.com/office/drawing/2014/main" id="{8FEDDCF7-0D34-4CE6-99F7-C452856F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457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n-id-2">
            <a:extLst xmlns:a="http://schemas.openxmlformats.org/drawingml/2006/main">
              <a:ext uri="{FF2B5EF4-FFF2-40B4-BE49-F238E27FC236}">
                <a16:creationId xmlns:a16="http://schemas.microsoft.com/office/drawing/2014/main" id="{A7A00398-1FB8-4185-83F2-3006F80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bon-label-2">
            <a:extLst xmlns:a="http://schemas.openxmlformats.org/drawingml/2006/main">
              <a:ext uri="{FF2B5EF4-FFF2-40B4-BE49-F238E27FC236}">
                <a16:creationId xmlns:a16="http://schemas.microsoft.com/office/drawing/2014/main" id="{81A6A99A-E0CD-41D7-82DF-B0E421E8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12" name="bon-body-2">
            <a:extLst xmlns:a="http://schemas.openxmlformats.org/drawingml/2006/main">
              <a:ext uri="{FF2B5EF4-FFF2-40B4-BE49-F238E27FC236}">
                <a16:creationId xmlns:a16="http://schemas.microsoft.com/office/drawing/2014/main" id="{8F9BD956-DD64-488B-9376-3E03FE2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047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candidates</a:t>
            </a:r>
          </a:p>
        </p:txBody>
      </p:sp>
      <p:cxnSp>
        <p:nvCxnSpPr>
          <p:cNvPr id="35" name="bon-link-2"/>
          <p:cNvCxnSpPr/>
          <p:nvPr/>
        </p:nvCxnSpPr>
        <p:spPr>
          <a:xfrm xmlns:a="http://schemas.openxmlformats.org/drawingml/2006/main">
            <a:off x="8153400" y="31051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4" name="bon-panel-3">
            <a:extLst xmlns:a="http://schemas.openxmlformats.org/drawingml/2006/main">
              <a:ext uri="{FF2B5EF4-FFF2-40B4-BE49-F238E27FC236}">
                <a16:creationId xmlns:a16="http://schemas.microsoft.com/office/drawing/2014/main" id="{72409DB7-BF5F-427F-BE90-EBF50109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43125"/>
            <a:ext cx="2457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n-id-3">
            <a:extLst xmlns:a="http://schemas.openxmlformats.org/drawingml/2006/main">
              <a:ext uri="{FF2B5EF4-FFF2-40B4-BE49-F238E27FC236}">
                <a16:creationId xmlns:a16="http://schemas.microsoft.com/office/drawing/2014/main" id="{9EC1C33F-71AF-4BA4-9C67-890D6117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bon-label-3">
            <a:extLst xmlns:a="http://schemas.openxmlformats.org/drawingml/2006/main">
              <a:ext uri="{FF2B5EF4-FFF2-40B4-BE49-F238E27FC236}">
                <a16:creationId xmlns:a16="http://schemas.microsoft.com/office/drawing/2014/main" id="{EC3577F0-04E3-4940-A113-2FE7512F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037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</p:txBody>
      </p:sp>
      <p:sp>
        <p:nvSpPr>
          <p:cNvPr id="17" name="bon-body-3">
            <a:extLst xmlns:a="http://schemas.openxmlformats.org/drawingml/2006/main">
              <a:ext uri="{FF2B5EF4-FFF2-40B4-BE49-F238E27FC236}">
                <a16:creationId xmlns:a16="http://schemas.microsoft.com/office/drawing/2014/main" id="{E0ABB5F9-50FB-4D02-B158-679F324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2047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every declared candidate</a:t>
            </a:r>
          </a:p>
        </p:txBody>
      </p:sp>
      <p:sp>
        <p:nvSpPr>
          <p:cNvPr id="18" name="bon-panel-4">
            <a:extLst xmlns:a="http://schemas.openxmlformats.org/drawingml/2006/main">
              <a:ext uri="{FF2B5EF4-FFF2-40B4-BE49-F238E27FC236}">
                <a16:creationId xmlns:a16="http://schemas.microsoft.com/office/drawing/2014/main" id="{6DBBA42A-0FF8-4694-9599-9E11199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457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n-id-4">
            <a:extLst xmlns:a="http://schemas.openxmlformats.org/drawingml/2006/main">
              <a:ext uri="{FF2B5EF4-FFF2-40B4-BE49-F238E27FC236}">
                <a16:creationId xmlns:a16="http://schemas.microsoft.com/office/drawing/2014/main" id="{01B2E976-A579-4FD7-8CCE-DB35AA9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bon-label-4">
            <a:extLst xmlns:a="http://schemas.openxmlformats.org/drawingml/2006/main">
              <a:ext uri="{FF2B5EF4-FFF2-40B4-BE49-F238E27FC236}">
                <a16:creationId xmlns:a16="http://schemas.microsoft.com/office/drawing/2014/main" id="{436EA60B-932C-48C6-A17A-B13C4CD9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21" name="bon-body-4">
            <a:extLst xmlns:a="http://schemas.openxmlformats.org/drawingml/2006/main">
              <a:ext uri="{FF2B5EF4-FFF2-40B4-BE49-F238E27FC236}">
                <a16:creationId xmlns:a16="http://schemas.microsoft.com/office/drawing/2014/main" id="{718C1D63-0623-4B78-A1CD-764F6E01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2047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checks and record limits</a:t>
            </a:r>
          </a:p>
        </p:txBody>
      </p:sp>
      <p:sp>
        <p:nvSpPr>
          <p:cNvPr id="22" name="bon-boundary">
            <a:extLst xmlns:a="http://schemas.openxmlformats.org/drawingml/2006/main">
              <a:ext uri="{FF2B5EF4-FFF2-40B4-BE49-F238E27FC236}">
                <a16:creationId xmlns:a16="http://schemas.microsoft.com/office/drawing/2014/main" id="{FCB99F78-814D-4982-B5CB-4C94F95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More candidates add value only when the rubric and verifier can distinguish them.</a:t>
            </a:r>
          </a:p>
        </p:txBody>
      </p:sp>
    </p:spTree>
    <p:extLst>
      <p:ext uri="{BB962C8B-B14F-4D97-AF65-F5344CB8AC3E}">
        <p14:creationId xmlns:p14="http://schemas.microsoft.com/office/powerpoint/2010/main" val="2046049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6">
            <a:extLst xmlns:a="http://schemas.openxmlformats.org/drawingml/2006/main">
              <a:ext uri="{FF2B5EF4-FFF2-40B4-BE49-F238E27FC236}">
                <a16:creationId xmlns:a16="http://schemas.microsoft.com/office/drawing/2014/main" id="{99159533-4BEB-4290-96AC-49788749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green check is useful only when its scope is visible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90161DC6-29FA-4B43-943C-491A25EE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proof-log">
            <a:extLst xmlns:a="http://schemas.openxmlformats.org/drawingml/2006/main">
              <a:ext uri="{FF2B5EF4-FFF2-40B4-BE49-F238E27FC236}">
                <a16:creationId xmlns:a16="http://schemas.microsoft.com/office/drawing/2014/main" id="{3D9EE351-00AF-4A4A-AB60-09C7AF05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of-log-heading">
            <a:extLst xmlns:a="http://schemas.openxmlformats.org/drawingml/2006/main">
              <a:ext uri="{FF2B5EF4-FFF2-40B4-BE49-F238E27FC236}">
                <a16:creationId xmlns:a16="http://schemas.microsoft.com/office/drawing/2014/main" id="{FE3957D8-608A-4FA5-A722-1417888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TESTING.md records</a:t>
            </a:r>
          </a:p>
        </p:txBody>
      </p:sp>
      <p:sp>
        <p:nvSpPr>
          <p:cNvPr id="5" name="proof-log-body">
            <a:extLst xmlns:a="http://schemas.openxmlformats.org/drawingml/2006/main">
              <a:ext uri="{FF2B5EF4-FFF2-40B4-BE49-F238E27FC236}">
                <a16:creationId xmlns:a16="http://schemas.microsoft.com/office/drawing/2014/main" id="{82757AD7-653E-4794-AF82-051E2D5B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286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Task contract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candidate and score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commands and environment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results and failures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Reviewer provenance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 checks</a:t>
            </a:r>
          </a:p>
        </p:txBody>
      </p:sp>
      <p:sp>
        <p:nvSpPr>
          <p:cNvPr id="6" name="proof-boundary-heading">
            <a:extLst xmlns:a="http://schemas.openxmlformats.org/drawingml/2006/main">
              <a:ext uri="{FF2B5EF4-FFF2-40B4-BE49-F238E27FC236}">
                <a16:creationId xmlns:a16="http://schemas.microsoft.com/office/drawing/2014/main" id="{F582F6DF-D157-4E5A-9129-102CD3B8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It does not prove</a:t>
            </a:r>
          </a:p>
        </p:txBody>
      </p:sp>
      <p:sp>
        <p:nvSpPr>
          <p:cNvPr id="7" name="proof-boundary-body">
            <a:extLst xmlns:a="http://schemas.openxmlformats.org/drawingml/2006/main">
              <a:ext uri="{FF2B5EF4-FFF2-40B4-BE49-F238E27FC236}">
                <a16:creationId xmlns:a16="http://schemas.microsoft.com/office/drawing/2014/main" id="{FB21DE78-7317-4351-8EA2-EFA2C35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Untested environments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 behavior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Reviewer independence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Requirements absent from the contract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Correctness outside the recorded checks</a:t>
            </a:r>
          </a:p>
        </p:txBody>
      </p:sp>
    </p:spTree>
    <p:extLst>
      <p:ext uri="{BB962C8B-B14F-4D97-AF65-F5344CB8AC3E}">
        <p14:creationId xmlns:p14="http://schemas.microsoft.com/office/powerpoint/2010/main" val="14267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7">
            <a:extLst xmlns:a="http://schemas.openxmlformats.org/drawingml/2006/main">
              <a:ext uri="{FF2B5EF4-FFF2-40B4-BE49-F238E27FC236}">
                <a16:creationId xmlns:a16="http://schemas.microsoft.com/office/drawing/2014/main" id="{40643468-EF42-4DA4-B96A-4B35B795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learning path now routes to current Claude Code surfaces</a:t>
            </a:r>
          </a:p>
        </p:txBody>
      </p:sp>
      <p:sp>
        <p:nvSpPr>
          <p:cNvPr id="2" name="footer-7">
            <a:extLst xmlns:a="http://schemas.openxmlformats.org/drawingml/2006/main">
              <a:ext uri="{FF2B5EF4-FFF2-40B4-BE49-F238E27FC236}">
                <a16:creationId xmlns:a16="http://schemas.microsoft.com/office/drawing/2014/main" id="{298B6F58-2783-4143-9D84-D79B63A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surface-0">
            <a:extLst xmlns:a="http://schemas.openxmlformats.org/drawingml/2006/main">
              <a:ext uri="{FF2B5EF4-FFF2-40B4-BE49-F238E27FC236}">
                <a16:creationId xmlns:a16="http://schemas.microsoft.com/office/drawing/2014/main" id="{CFACC706-1120-433B-9CA2-6D0D90E0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581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rface-heading-0">
            <a:extLst xmlns:a="http://schemas.openxmlformats.org/drawingml/2006/main">
              <a:ext uri="{FF2B5EF4-FFF2-40B4-BE49-F238E27FC236}">
                <a16:creationId xmlns:a16="http://schemas.microsoft.com/office/drawing/2014/main" id="{0E32F7B3-E772-4199-B680-BE24BBAA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Computer Use</a:t>
            </a:r>
          </a:p>
        </p:txBody>
      </p:sp>
      <p:sp>
        <p:nvSpPr>
          <p:cNvPr id="5" name="surface-body-0">
            <a:extLst xmlns:a="http://schemas.openxmlformats.org/drawingml/2006/main">
              <a:ext uri="{FF2B5EF4-FFF2-40B4-BE49-F238E27FC236}">
                <a16:creationId xmlns:a16="http://schemas.microsoft.com/office/drawing/2014/main" id="{029AFD63-3EFD-4D80-95BD-8380E47D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Desktop interaction needs explicit permission, observation, and verification boundaries.</a:t>
            </a:r>
          </a:p>
        </p:txBody>
      </p:sp>
      <p:sp>
        <p:nvSpPr>
          <p:cNvPr id="6" name="surface-1">
            <a:extLst xmlns:a="http://schemas.openxmlformats.org/drawingml/2006/main">
              <a:ext uri="{FF2B5EF4-FFF2-40B4-BE49-F238E27FC236}">
                <a16:creationId xmlns:a16="http://schemas.microsoft.com/office/drawing/2014/main" id="{4EAC5CC8-A33F-4DDC-9DE4-1F87B644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3581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face-heading-1">
            <a:extLst xmlns:a="http://schemas.openxmlformats.org/drawingml/2006/main">
              <a:ext uri="{FF2B5EF4-FFF2-40B4-BE49-F238E27FC236}">
                <a16:creationId xmlns:a16="http://schemas.microsoft.com/office/drawing/2014/main" id="{E06D29A5-4607-4BE1-A2DB-EBCE48D9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Plugins</a:t>
            </a:r>
          </a:p>
        </p:txBody>
      </p:sp>
      <p:sp>
        <p:nvSpPr>
          <p:cNvPr id="8" name="surface-body-1">
            <a:extLst xmlns:a="http://schemas.openxmlformats.org/drawingml/2006/main">
              <a:ext uri="{FF2B5EF4-FFF2-40B4-BE49-F238E27FC236}">
                <a16:creationId xmlns:a16="http://schemas.microsoft.com/office/drawing/2014/main" id="{9F2FD59D-9D71-44C4-9C6C-7B16E669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Distribution packages skills, commands, hooks, agents, and MCP configuration with trust checks.</a:t>
            </a:r>
          </a:p>
        </p:txBody>
      </p:sp>
      <p:sp>
        <p:nvSpPr>
          <p:cNvPr id="9" name="surface-2">
            <a:extLst xmlns:a="http://schemas.openxmlformats.org/drawingml/2006/main">
              <a:ext uri="{FF2B5EF4-FFF2-40B4-BE49-F238E27FC236}">
                <a16:creationId xmlns:a16="http://schemas.microsoft.com/office/drawing/2014/main" id="{17C417E2-D41C-49C6-8C1F-83B54DC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3581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-heading-2">
            <a:extLst xmlns:a="http://schemas.openxmlformats.org/drawingml/2006/main">
              <a:ext uri="{FF2B5EF4-FFF2-40B4-BE49-F238E27FC236}">
                <a16:creationId xmlns:a16="http://schemas.microsoft.com/office/drawing/2014/main" id="{30A708CB-43C7-439C-8E07-B0468E3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Apps gateway</a:t>
            </a:r>
          </a:p>
        </p:txBody>
      </p:sp>
      <p:sp>
        <p:nvSpPr>
          <p:cNvPr id="11" name="surface-body-2">
            <a:extLst xmlns:a="http://schemas.openxmlformats.org/drawingml/2006/main">
              <a:ext uri="{FF2B5EF4-FFF2-40B4-BE49-F238E27FC236}">
                <a16:creationId xmlns:a16="http://schemas.microsoft.com/office/drawing/2014/main" id="{D8D4EF02-5F5E-40F3-A4FD-EB072535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First-party SSO routing differs from third-party proxy controls and logging.</a:t>
            </a:r>
          </a:p>
        </p:txBody>
      </p:sp>
    </p:spTree>
    <p:extLst>
      <p:ext uri="{BB962C8B-B14F-4D97-AF65-F5344CB8AC3E}">
        <p14:creationId xmlns:p14="http://schemas.microsoft.com/office/powerpoint/2010/main" val="1632343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8">
            <a:extLst xmlns:a="http://schemas.openxmlformats.org/drawingml/2006/main">
              <a:ext uri="{FF2B5EF4-FFF2-40B4-BE49-F238E27FC236}">
                <a16:creationId xmlns:a16="http://schemas.microsoft.com/office/drawing/2014/main" id="{4ADD0682-967D-48E0-BFA2-490459F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Distribution records channel state, placement proof, and dated outcomes</a:t>
            </a:r>
          </a:p>
        </p:txBody>
      </p:sp>
      <p:sp>
        <p:nvSpPr>
          <p:cNvPr id="2" name="footer-8">
            <a:extLst xmlns:a="http://schemas.openxmlformats.org/drawingml/2006/main">
              <a:ext uri="{FF2B5EF4-FFF2-40B4-BE49-F238E27FC236}">
                <a16:creationId xmlns:a16="http://schemas.microsoft.com/office/drawing/2014/main" id="{41632FFC-9DEA-4786-859F-F952DABE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19" name="distribution-spine"/>
          <p:cNvCxnSpPr/>
          <p:nvPr/>
        </p:nvCxnSpPr>
        <p:spPr>
          <a:xfrm xmlns:a="http://schemas.openxmlformats.org/drawingml/2006/main">
            <a:off x="1428750" y="335280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channel-dot-0">
            <a:extLst xmlns:a="http://schemas.openxmlformats.org/drawingml/2006/main">
              <a:ext uri="{FF2B5EF4-FFF2-40B4-BE49-F238E27FC236}">
                <a16:creationId xmlns:a16="http://schemas.microsoft.com/office/drawing/2014/main" id="{DD56CDA8-FAAC-4C0D-AF91-179D41F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annel-label-0">
            <a:extLst xmlns:a="http://schemas.openxmlformats.org/drawingml/2006/main">
              <a:ext uri="{FF2B5EF4-FFF2-40B4-BE49-F238E27FC236}">
                <a16:creationId xmlns:a16="http://schemas.microsoft.com/office/drawing/2014/main" id="{49E2741F-92C3-48DD-82E5-CF9FBC4D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6" name="channel-body-0">
            <a:extLst xmlns:a="http://schemas.openxmlformats.org/drawingml/2006/main">
              <a:ext uri="{FF2B5EF4-FFF2-40B4-BE49-F238E27FC236}">
                <a16:creationId xmlns:a16="http://schemas.microsoft.com/office/drawing/2014/main" id="{24EB715A-3A73-4B7C-90D2-C22F6302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Releases</a:t>
            </a:r>
          </a:p>
        </p:txBody>
      </p:sp>
      <p:sp>
        <p:nvSpPr>
          <p:cNvPr id="7" name="channel-dot-1">
            <a:extLst xmlns:a="http://schemas.openxmlformats.org/drawingml/2006/main">
              <a:ext uri="{FF2B5EF4-FFF2-40B4-BE49-F238E27FC236}">
                <a16:creationId xmlns:a16="http://schemas.microsoft.com/office/drawing/2014/main" id="{17BD4DB3-90C1-4364-AA89-9AD08A5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nnel-label-1">
            <a:extLst xmlns:a="http://schemas.openxmlformats.org/drawingml/2006/main">
              <a:ext uri="{FF2B5EF4-FFF2-40B4-BE49-F238E27FC236}">
                <a16:creationId xmlns:a16="http://schemas.microsoft.com/office/drawing/2014/main" id="{227B21F9-5C25-4AF0-865B-D4DD4508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GUIDE</a:t>
            </a:r>
          </a:p>
        </p:txBody>
      </p:sp>
      <p:sp>
        <p:nvSpPr>
          <p:cNvPr id="9" name="channel-body-1">
            <a:extLst xmlns:a="http://schemas.openxmlformats.org/drawingml/2006/main">
              <a:ext uri="{FF2B5EF4-FFF2-40B4-BE49-F238E27FC236}">
                <a16:creationId xmlns:a16="http://schemas.microsoft.com/office/drawing/2014/main" id="{D67C0A1B-34B0-40C8-AAE2-9755677F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Landing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EPUB</a:t>
            </a:r>
          </a:p>
        </p:txBody>
      </p:sp>
      <p:sp>
        <p:nvSpPr>
          <p:cNvPr id="10" name="channel-dot-2">
            <a:extLst xmlns:a="http://schemas.openxmlformats.org/drawingml/2006/main">
              <a:ext uri="{FF2B5EF4-FFF2-40B4-BE49-F238E27FC236}">
                <a16:creationId xmlns:a16="http://schemas.microsoft.com/office/drawing/2014/main" id="{3C0848AF-8251-4D82-BC81-E84E49C2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annel-label-2">
            <a:extLst xmlns:a="http://schemas.openxmlformats.org/drawingml/2006/main">
              <a:ext uri="{FF2B5EF4-FFF2-40B4-BE49-F238E27FC236}">
                <a16:creationId xmlns:a16="http://schemas.microsoft.com/office/drawing/2014/main" id="{A5522B01-99B7-490A-AB98-7C8EE05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TEACH</a:t>
            </a:r>
          </a:p>
        </p:txBody>
      </p:sp>
      <p:sp>
        <p:nvSpPr>
          <p:cNvPr id="12" name="channel-body-2">
            <a:extLst xmlns:a="http://schemas.openxmlformats.org/drawingml/2006/main">
              <a:ext uri="{FF2B5EF4-FFF2-40B4-BE49-F238E27FC236}">
                <a16:creationId xmlns:a16="http://schemas.microsoft.com/office/drawing/2014/main" id="{CC8CCA81-D769-45EC-AD2F-77BF5CD0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Slides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Video</a:t>
            </a:r>
          </a:p>
        </p:txBody>
      </p:sp>
      <p:sp>
        <p:nvSpPr>
          <p:cNvPr id="13" name="channel-dot-3">
            <a:extLst xmlns:a="http://schemas.openxmlformats.org/drawingml/2006/main">
              <a:ext uri="{FF2B5EF4-FFF2-40B4-BE49-F238E27FC236}">
                <a16:creationId xmlns:a16="http://schemas.microsoft.com/office/drawing/2014/main" id="{25A1F051-97A3-44C8-9495-6F86A224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nnel-label-3">
            <a:extLst xmlns:a="http://schemas.openxmlformats.org/drawingml/2006/main">
              <a:ext uri="{FF2B5EF4-FFF2-40B4-BE49-F238E27FC236}">
                <a16:creationId xmlns:a16="http://schemas.microsoft.com/office/drawing/2014/main" id="{A906A653-B64D-497D-9FA2-EA37E7E7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LOCALIZE</a:t>
            </a:r>
          </a:p>
        </p:txBody>
      </p:sp>
      <p:sp>
        <p:nvSpPr>
          <p:cNvPr id="15" name="channel-body-3">
            <a:extLst xmlns:a="http://schemas.openxmlformats.org/drawingml/2006/main">
              <a:ext uri="{FF2B5EF4-FFF2-40B4-BE49-F238E27FC236}">
                <a16:creationId xmlns:a16="http://schemas.microsoft.com/office/drawing/2014/main" id="{B51F8CEF-3436-4D89-98C6-50AEBEB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Translations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Communities</a:t>
            </a:r>
          </a:p>
        </p:txBody>
      </p:sp>
      <p:sp>
        <p:nvSpPr>
          <p:cNvPr id="16" name="distribution-measure">
            <a:extLst xmlns:a="http://schemas.openxmlformats.org/drawingml/2006/main">
              <a:ext uri="{FF2B5EF4-FFF2-40B4-BE49-F238E27FC236}">
                <a16:creationId xmlns:a16="http://schemas.microsoft.com/office/drawing/2014/main" id="{5D058566-6EAE-4C6B-A91E-4878EBD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Each published channel carries a campaign, owner, status, date, URL, and metric boundary.</a:t>
            </a:r>
          </a:p>
        </p:txBody>
      </p:sp>
    </p:spTree>
    <p:extLst>
      <p:ext uri="{BB962C8B-B14F-4D97-AF65-F5344CB8AC3E}">
        <p14:creationId xmlns:p14="http://schemas.microsoft.com/office/powerpoint/2010/main" val="137113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39EA724-8633-4DBE-A0AB-F8093BD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START WITH ONE REAL PROJECT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3C39006-6446-44EE-9E23-5526611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/learning-path</a:t>
            </a:r>
          </a:p>
          <a:p xmlns:a="http://schemas.openxmlformats.org/drawingml/2006/main">
            <a:pPr algn="l">
              <a:defRPr sz="4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one real project</a:t>
            </a:r>
          </a:p>
        </p:txBody>
      </p:sp>
      <p:sp>
        <p:nvSpPr>
          <p:cNvPr id="3" name="close-command">
            <a:extLst xmlns:a="http://schemas.openxmlformats.org/drawingml/2006/main">
              <a:ext uri="{FF2B5EF4-FFF2-40B4-BE49-F238E27FC236}">
                <a16:creationId xmlns:a16="http://schemas.microsoft.com/office/drawing/2014/main" id="{38301A80-3CA9-4B8C-88C8-E1942DC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 its evidence file.</a:t>
            </a:r>
          </a:p>
        </p:txBody>
      </p:sp>
      <p:sp>
        <p:nvSpPr>
          <p:cNvPr id="4" name="close-links">
            <a:extLst xmlns:a="http://schemas.openxmlformats.org/drawingml/2006/main">
              <a:ext uri="{FF2B5EF4-FFF2-40B4-BE49-F238E27FC236}">
                <a16:creationId xmlns:a16="http://schemas.microsoft.com/office/drawing/2014/main" id="{AD1B5308-B2F9-4F84-9245-B5F0505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cc.bruniaux.com</a:t>
            </a:r>
          </a:p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github.com/FlorianBruniaux/claude-code-ultimate-guide</a:t>
            </a:r>
          </a:p>
        </p:txBody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D8CEAD2C-39F5-4B23-9CB4-A7BCE19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9238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2026-08-31T08:17:14.0000000Z</dcterms:created>
  <dcterms:modified xsi:type="dcterms:W3CDTF">2026-08-31T08:17:14.0000000Z</dcterms:modified>
</coreProperties>
</file>